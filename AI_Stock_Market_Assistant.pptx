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AI Stock Market Assistant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Multi-agent system with LangChain + LangGraph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Price analysis · RAG over financial news · simulated Buy / Sell / Hold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Assignment 1.1  |  Vishal Singh  |  Advanced Data Analytics &amp; Gen AI, IIT Roorkee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one assistant, four capabilities</a:t>
            </a:r>
            <a:endParaRPr lang="en-US" sz="2600" dirty="0"/>
          </a:p>
        </p:txBody>
      </p:sp>
      <p:sp>
        <p:nvSpPr>
          <p:cNvPr id="3" name="card0"/>
          <p:cNvSpPr/>
          <p:nvPr/>
        </p:nvSpPr>
        <p:spPr>
          <a:xfrm>
            <a:off x="457200" y="1097280"/>
            <a:ext cx="40233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Analyze price data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yfinance history; SMA20/50, RSI14, MACD, volatility and 52-week range computed in Python.</a:t>
            </a:r>
            <a:endParaRPr lang="en-US" sz="1200" dirty="0"/>
          </a:p>
        </p:txBody>
      </p:sp>
      <p:sp>
        <p:nvSpPr>
          <p:cNvPr id="6" name="card1"/>
          <p:cNvSpPr/>
          <p:nvPr/>
        </p:nvSpPr>
        <p:spPr>
          <a:xfrm>
            <a:off x="4663440" y="1097280"/>
            <a:ext cx="40233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Retrieve news with RAG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Google News RSS → chunks → embeddings → vector store → retriever → grounded sentiment summary.</a:t>
            </a:r>
            <a:endParaRPr lang="en-US" sz="1200" dirty="0"/>
          </a:p>
        </p:txBody>
      </p:sp>
      <p:sp>
        <p:nvSpPr>
          <p:cNvPr id="9" name="card2"/>
          <p:cNvSpPr/>
          <p:nvPr/>
        </p:nvSpPr>
        <p:spPr>
          <a:xfrm>
            <a:off x="457200" y="2560320"/>
            <a:ext cx="40233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Reason with an LLM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63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Pydantic structured outputs on Groq (gpt-oss-20b) for the analysis, confidence and recommendation.</a:t>
            </a:r>
            <a:endParaRPr lang="en-US" sz="1200" dirty="0"/>
          </a:p>
        </p:txBody>
      </p:sp>
      <p:sp>
        <p:nvSpPr>
          <p:cNvPr id="12" name="card3"/>
          <p:cNvSpPr/>
          <p:nvPr/>
        </p:nvSpPr>
        <p:spPr>
          <a:xfrm>
            <a:off x="4663440" y="2560320"/>
            <a:ext cx="40233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Simulated recommendation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063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BUY / SELL / HOLD with confidence, justification, key risks and time horizon.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Built with LangChain (LLM, prompt templates, tools, LCEL chains) and LangGraph (state, nodes, edges, conditional edges)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five specialised agents</a:t>
            </a:r>
            <a:endParaRPr lang="en-US" sz="2600" dirty="0"/>
          </a:p>
        </p:txBody>
      </p:sp>
      <p:sp>
        <p:nvSpPr>
          <p:cNvPr id="3" name="step0"/>
          <p:cNvSpPr/>
          <p:nvPr/>
        </p:nvSpPr>
        <p:spPr>
          <a:xfrm>
            <a:off x="457200" y="1143000"/>
            <a:ext cx="1463040" cy="13716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1. Data agent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Fetch prices, compute indicators, technical summary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7" name="step1"/>
          <p:cNvSpPr/>
          <p:nvPr/>
        </p:nvSpPr>
        <p:spPr>
          <a:xfrm>
            <a:off x="2148840" y="1143000"/>
            <a:ext cx="1463040" cy="13716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5856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2. News agent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5856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Fetch news, build retriever, RAG sentiment summary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step2"/>
          <p:cNvSpPr/>
          <p:nvPr/>
        </p:nvSpPr>
        <p:spPr>
          <a:xfrm>
            <a:off x="3840480" y="1143000"/>
            <a:ext cx="1463040" cy="13716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5020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3. Analyst agent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5020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Merge both views, output analysis + confidence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step3"/>
          <p:cNvSpPr/>
          <p:nvPr/>
        </p:nvSpPr>
        <p:spPr>
          <a:xfrm>
            <a:off x="5532120" y="1143000"/>
            <a:ext cx="1463040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4184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4. Recommender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4184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Structured BUY / SELL / HOLD + risks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step4"/>
          <p:cNvSpPr/>
          <p:nvPr/>
        </p:nvSpPr>
        <p:spPr>
          <a:xfrm>
            <a:off x="7223760" y="1143000"/>
            <a:ext cx="1463040" cy="13716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3348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5. Fallback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3348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Safe HOLD when data is missing</a:t>
            </a:r>
            <a:endParaRPr lang="en-US" sz="1050" dirty="0"/>
          </a:p>
        </p:txBody>
      </p:sp>
      <p:sp>
        <p:nvSpPr>
          <p:cNvPr id="22" name="mapbox"/>
          <p:cNvSpPr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971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Where each requirement is met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383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LangChain: get_llm() factory, ChatPromptTemplate per agent, @tool functions, LCEL chains (retriever | prompt | llm | parser)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LangGraph: AgentState (TypedDict), 5 nodes, normal edges, 2 conditional edges, compiled graph run with stream()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Provider-agnostic: Groq, Gemini, OpenAI or Anthropic selected by one environment variable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design: state, nodes and conditional edges</a:t>
            </a:r>
            <a:endParaRPr lang="en-US" sz="2600" dirty="0"/>
          </a:p>
        </p:txBody>
      </p:sp>
      <p:pic>
        <p:nvPicPr>
          <p:cNvPr id="3" name="Image 0" descr="LangGraph workflow diagram with conditional ed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2468880" cy="3703320"/>
          </a:xfrm>
          <a:prstGeom prst="rect">
            <a:avLst/>
          </a:prstGeom>
        </p:spPr>
      </p:pic>
      <p:sp>
        <p:nvSpPr>
          <p:cNvPr id="4" name="statebox"/>
          <p:cNvSpPr/>
          <p:nvPr/>
        </p:nvSpPr>
        <p:spPr>
          <a:xfrm>
            <a:off x="3291840" y="1051560"/>
            <a:ext cx="53949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474720" y="1170432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State (AgentState)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ticker, price_data, technical_summary, news_articles, news_summary, analysis, confidence, retry_count, error, recommendation</a:t>
            </a:r>
            <a:endParaRPr lang="en-US" sz="1300" dirty="0"/>
          </a:p>
        </p:txBody>
      </p:sp>
      <p:sp>
        <p:nvSpPr>
          <p:cNvPr id="6" name="edgesbox"/>
          <p:cNvSpPr/>
          <p:nvPr/>
        </p:nvSpPr>
        <p:spPr>
          <a:xfrm>
            <a:off x="3291840" y="2606040"/>
            <a:ext cx="5394960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474720" y="27432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Conditional edges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After data_node: error → fallback_node, else news_node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After analyst_node: confidence &lt; 0.5 → back to news_node with a new query (max 3 fetches), else recommend_node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agent: Python computes, the LLM interprets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9377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Indicator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How it is used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SMA 20 / 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Trend: price above or below moving averages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RSI (14)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Momentum zone: overbought &gt; 70, oversold &lt; 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MACD vs signal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Momentum direction and crossovers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Volatility (30d, annualised)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Risk level of recent price swings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52-week high / 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Support and resistance reference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dchoices"/>
          <p:cNvSpPr/>
          <p:nvPr/>
        </p:nvSpPr>
        <p:spPr>
          <a:xfrm>
            <a:off x="5669280" y="1097280"/>
            <a:ext cx="301752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261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Design choices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78308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@tool get_price_snapshot returns a clean dict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LLM never does the maths, so no calculation errors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Rule-based signals added as hints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Bad ticker returns an error → fallback edge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agent: Retrieval-Augmented Generation</a:t>
            </a:r>
            <a:endParaRPr lang="en-US" sz="2600" dirty="0"/>
          </a:p>
        </p:txBody>
      </p:sp>
      <p:sp>
        <p:nvSpPr>
          <p:cNvPr id="3" name="step0"/>
          <p:cNvSpPr/>
          <p:nvPr/>
        </p:nvSpPr>
        <p:spPr>
          <a:xfrm>
            <a:off x="457200" y="1143000"/>
            <a:ext cx="14630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Fetch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Google News RSS + Yahoo Finance via @tool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7" name="step1"/>
          <p:cNvSpPr/>
          <p:nvPr/>
        </p:nvSpPr>
        <p:spPr>
          <a:xfrm>
            <a:off x="2148840" y="1143000"/>
            <a:ext cx="14630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5856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Chunk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5856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Text splitter, 500-character chunks with overlap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step2"/>
          <p:cNvSpPr/>
          <p:nvPr/>
        </p:nvSpPr>
        <p:spPr>
          <a:xfrm>
            <a:off x="3840480" y="1143000"/>
            <a:ext cx="14630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5020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Embed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5020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MiniLM sentence embeddings (local, free)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step3"/>
          <p:cNvSpPr/>
          <p:nvPr/>
        </p:nvSpPr>
        <p:spPr>
          <a:xfrm>
            <a:off x="5532120" y="1143000"/>
            <a:ext cx="14630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4184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Retrieve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4184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InMemoryVectorStore retriever, k = 5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step4"/>
          <p:cNvSpPr/>
          <p:nvPr/>
        </p:nvSpPr>
        <p:spPr>
          <a:xfrm>
            <a:off x="7223760" y="1143000"/>
            <a:ext cx="14630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3348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Generate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3348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LCEL chain: retriever | prompt | LLM | parser</a:t>
            </a:r>
            <a:endParaRPr lang="en-US" sz="1050" dirty="0"/>
          </a:p>
        </p:txBody>
      </p:sp>
      <p:sp>
        <p:nvSpPr>
          <p:cNvPr id="22" name="ragnotes"/>
          <p:cNvSpPr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971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Grounding and retry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383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Prompt says: use only the retrieved context, state sentiment (Positive / Negative / Neutral / Mixed), list developments and risks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If the analyst's confidence is low, news_node runs again with a different query and merges new articles with the old ones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run: RELIANCE.NS (1-year view)</a:t>
            </a:r>
            <a:endParaRPr lang="en-US" sz="2600" dirty="0"/>
          </a:p>
        </p:txBody>
      </p:sp>
      <p:pic>
        <p:nvPicPr>
          <p:cNvPr id="3" name="Image 0" descr="RELIANCE.NS price with SMA20 and SMA5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029200" cy="2206286"/>
          </a:xfrm>
          <a:prstGeom prst="rect">
            <a:avLst/>
          </a:prstGeom>
        </p:spPr>
      </p:pic>
      <p:sp>
        <p:nvSpPr>
          <p:cNvPr id="4" name="newsbox"/>
          <p:cNvSpPr/>
          <p:nvPr/>
        </p:nvSpPr>
        <p:spPr>
          <a:xfrm>
            <a:off x="457200" y="3486446"/>
            <a:ext cx="502920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57788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News (RAG): Mixed.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Earnings beat (21 Jul) and a rally, against a 52-week low streak and new private-placement debentures.</a:t>
            </a:r>
            <a:endParaRPr lang="en-US" sz="1150" dirty="0"/>
          </a:p>
        </p:txBody>
      </p:sp>
      <p:sp>
        <p:nvSpPr>
          <p:cNvPr id="6" name="reco"/>
          <p:cNvSpPr/>
          <p:nvPr/>
        </p:nvSpPr>
        <p:spPr>
          <a:xfrm>
            <a:off x="5760720" y="1097280"/>
            <a:ext cx="2926080" cy="10515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11887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HOLD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confidence 60%, short term (1-3 months)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3317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Close 1,167.7 = 52-week low; below SMA20 (1,242.8) and SMA50 (1,279.8)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RSI 27.9 oversold; MACD -28.8 below signal -22.0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Bearish trend but possible rebound if support holds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Risks: new debt, sustained low streak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across tickers, including a bad one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84632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Ticker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evidence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RELIANCE.NS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At 52-week low, RSI 27.9, MACD bearish, news mixed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HOLD (60%)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TCS.NS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Below SMA20 2,155 and SMA50 2,276; RSI 36.0; MACD -61.9 below signal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HOLD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AAPL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Close $333.69 above SMA20 331.89 and SMA50 322.36; MACD 3.82 below signal 4.84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HOLD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NOTAREALTICKER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No price data found → data error → fallback_node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HOLD (fallback, 0%)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The invalid ticker ends gracefully through the conditional edge instead of crashing. HOLD is the expected outcome when technical and news signals conflict, as the prompt instructs.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and how they were fixed</a:t>
            </a:r>
            <a:endParaRPr lang="en-US" sz="2600" dirty="0"/>
          </a:p>
        </p:txBody>
      </p:sp>
      <p:sp>
        <p:nvSpPr>
          <p:cNvPr id="3" name="ch0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LLM invented numbers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20700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justification once quoted SMA values that differed from the computed ones. Fix: raw Python metrics are passed to the recommendation prompt, with an instruction to use only those numbers. The re-run now matches.</a:t>
            </a:r>
            <a:endParaRPr lang="en-US" sz="1250" dirty="0"/>
          </a:p>
        </p:txBody>
      </p:sp>
      <p:sp>
        <p:nvSpPr>
          <p:cNvPr id="6" name="ch1"/>
          <p:cNvSpPr/>
          <p:nvPr/>
        </p:nvSpPr>
        <p:spPr>
          <a:xfrm>
            <a:off x="457200" y="2267712"/>
            <a:ext cx="822960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API limits and outages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3774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Gemini returned 503 / quota errors and Groq has token limits. Fix: provider switch through get_llm(), retry wrapper run_agent_safe, and a smaller model.</a:t>
            </a:r>
            <a:endParaRPr lang="en-US" sz="1250" dirty="0"/>
          </a:p>
        </p:txBody>
      </p:sp>
      <p:sp>
        <p:nvSpPr>
          <p:cNvPr id="9" name="ch2"/>
          <p:cNvSpPr/>
          <p:nvPr/>
        </p:nvSpPr>
        <p:spPr>
          <a:xfrm>
            <a:off x="457200" y="3438144"/>
            <a:ext cx="822960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54787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Retired model names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547872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hard-coded model returned 404. Fix: model name read from the LLM_MODEL environment variable.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future scope and deliverables</a:t>
            </a:r>
            <a:endParaRPr lang="en-US" sz="2600" dirty="0"/>
          </a:p>
        </p:txBody>
      </p:sp>
      <p:sp>
        <p:nvSpPr>
          <p:cNvPr id="3" name="lim"/>
          <p:cNvSpPr/>
          <p:nvPr/>
        </p:nvSpPr>
        <p:spPr>
          <a:xfrm>
            <a:off x="457200" y="1097280"/>
            <a:ext cx="40233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Limitations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RSS news is headline-level and can lag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Confidence is self-reported by the LLM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 fundamentals or backtesting; simulated, not advice</a:t>
            </a:r>
            <a:endParaRPr lang="en-US" sz="1250" dirty="0"/>
          </a:p>
        </p:txBody>
      </p:sp>
      <p:sp>
        <p:nvSpPr>
          <p:cNvPr id="6" name="fut"/>
          <p:cNvSpPr/>
          <p:nvPr/>
        </p:nvSpPr>
        <p:spPr>
          <a:xfrm>
            <a:off x="4663440" y="1097280"/>
            <a:ext cx="40233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Future scope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Fundamentals agent (P/E, balance sheet)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Backtesting and risk / portfolio agent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Persistent vector DB (Chroma) for news memory</a:t>
            </a:r>
            <a:endParaRPr lang="en-US" sz="1250" dirty="0"/>
          </a:p>
        </p:txBody>
      </p:sp>
      <p:sp>
        <p:nvSpPr>
          <p:cNvPr id="9" name="deliv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2160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Deliverables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Jupyter notebook (run end-to-end on Colab) · Streamlit app deployed from GitHub · this presentation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ckAssistant">
  <a:themeElements>
    <a:clrScheme name="StockAssistant">
      <a:dk1>
        <a:srgbClr val="1B2A41"/>
      </a:dk1>
      <a:lt1>
        <a:srgbClr val="FFFFFF"/>
      </a:lt1>
      <a:dk2>
        <a:srgbClr val="0B2545"/>
      </a:dk2>
      <a:lt2>
        <a:srgbClr val="EEF3F8"/>
      </a:lt2>
      <a:accent1>
        <a:srgbClr val="13A89E"/>
      </a:accent1>
      <a:accent2>
        <a:srgbClr val="E4572E"/>
      </a:accent2>
      <a:accent3>
        <a:srgbClr val="F2A541"/>
      </a:accent3>
      <a:accent4>
        <a:srgbClr val="3A6EA5"/>
      </a:accent4>
      <a:accent5>
        <a:srgbClr val="6C7A89"/>
      </a:accent5>
      <a:accent6>
        <a:srgbClr val="2E8B57"/>
      </a:accent6>
      <a:hlink>
        <a:srgbClr val="3A6EA5"/>
      </a:hlink>
      <a:folHlink>
        <a:srgbClr val="6C7A89"/>
      </a:folHlink>
    </a:clrScheme>
    <a:fontScheme name="StockAssista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Stock Market Assistant</dc:title>
  <dc:subject>PptxGenJS Presentation</dc:subject>
  <dc:creator>PptxGenJS</dc:creator>
  <cp:lastModifiedBy>PptxGenJS</cp:lastModifiedBy>
  <cp:revision>1</cp:revision>
  <dcterms:created xsi:type="dcterms:W3CDTF">2026-10-04T17:35:14Z</dcterms:created>
  <dcterms:modified xsi:type="dcterms:W3CDTF">2026-10-04T17:35:14Z</dcterms:modified>
</cp:coreProperties>
</file>